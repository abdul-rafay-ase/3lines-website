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-2606040"/>
            <a:ext cx="7772400" cy="7772400"/>
          </a:xfrm>
          <a:prstGeom prst="ellipse">
            <a:avLst/>
          </a:prstGeom>
          <a:solidFill>
            <a:srgbClr val="3AA0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474720"/>
            <a:ext cx="5486400" cy="5486400"/>
          </a:xfrm>
          <a:prstGeom prst="ellipse">
            <a:avLst/>
          </a:prstGeom>
          <a:solidFill>
            <a:srgbClr val="7A7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975" y="3149315"/>
            <a:ext cx="6766560" cy="3662964"/>
          </a:xfrm>
          <a:prstGeom prst="rect">
            <a:avLst/>
          </a:prstGeom>
        </p:spPr>
      </p:pic>
      <p:pic>
        <p:nvPicPr>
          <p:cNvPr id="6" name="Picture 5" descr="3lines-logo-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422668" cy="566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1762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0756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ADVANCED TECHNOLOGIES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14600"/>
            <a:ext cx="7680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>
                <a:solidFill>
                  <a:srgbClr val="F3F7FD"/>
                </a:solidFill>
                <a:latin typeface="Segoe UI Semibold"/>
              </a:rPr>
              <a:t>Provision of Aircraft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>
                <a:solidFill>
                  <a:srgbClr val="3AA0FF"/>
                </a:solidFill>
                <a:latin typeface="Segoe UI Semibold"/>
              </a:rPr>
              <a:t>Spare Parts &amp; Simulators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97680"/>
            <a:ext cx="5257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500" b="0">
                <a:solidFill>
                  <a:srgbClr val="A6B4CC"/>
                </a:solidFill>
                <a:latin typeface="Segoe UI"/>
              </a:rPr>
              <a:t>The first licensed Saudi company supplying aircraft spare parts, ground support equipment and simulators — from the United States and worldwide.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32120"/>
            <a:ext cx="1049731" cy="402336"/>
          </a:xfrm>
          <a:prstGeom prst="roundRect">
            <a:avLst>
              <a:gd name="adj" fmla="val 50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532120"/>
            <a:ext cx="104973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A6B4CC"/>
                </a:solidFill>
                <a:latin typeface="Segoe UI"/>
              </a:rPr>
              <a:t>30+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9267" y="5532120"/>
            <a:ext cx="1217980" cy="402336"/>
          </a:xfrm>
          <a:prstGeom prst="roundRect">
            <a:avLst>
              <a:gd name="adj" fmla="val 50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9267" y="5532120"/>
            <a:ext cx="12179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A6B4CC"/>
                </a:solidFill>
                <a:latin typeface="Segoe UI"/>
              </a:rPr>
              <a:t>Riyadh, KSA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5532120"/>
            <a:ext cx="1638604" cy="402336"/>
          </a:xfrm>
          <a:prstGeom prst="roundRect">
            <a:avLst>
              <a:gd name="adj" fmla="val 50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5532120"/>
            <a:ext cx="16386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A6B4CC"/>
                </a:solidFill>
                <a:latin typeface="Segoe UI"/>
              </a:rPr>
              <a:t>Civil &amp; military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772400" y="-1828800"/>
            <a:ext cx="5486400" cy="5486400"/>
          </a:xfrm>
          <a:prstGeom prst="ellipse">
            <a:avLst/>
          </a:prstGeom>
          <a:solidFill>
            <a:srgbClr val="3AA0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A professional Saudi team,
30+ years of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A professional Saudi team,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30+ years of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63240"/>
            <a:ext cx="5989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50" b="0">
                <a:solidFill>
                  <a:srgbClr val="A6B4CC"/>
                </a:solidFill>
                <a:latin typeface="Segoe UI"/>
              </a:rPr>
              <a:t>3Lines Advanced Technologies is the first licensed Saudi company for supplying aircraft spare parts, ground support equipment and simulators from the United States and all over the world.</a:t>
            </a:r>
          </a:p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600" b="0">
                <a:solidFill>
                  <a:srgbClr val="A6B4CC"/>
                </a:solidFill>
                <a:latin typeface="Segoe U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50" b="0">
                <a:solidFill>
                  <a:srgbClr val="A6B4CC"/>
                </a:solidFill>
                <a:latin typeface="Segoe UI"/>
              </a:rPr>
              <a:t>Backed by a professional Saudi team with more than 30 years of experience, we serve civil and military aviation with genuine parts, dependable maintenance and world-class technical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600200"/>
            <a:ext cx="2212848" cy="1572768"/>
          </a:xfrm>
          <a:prstGeom prst="roundRect">
            <a:avLst>
              <a:gd name="adj" fmla="val 11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180136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19656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3AA0FF"/>
                </a:solidFill>
                <a:latin typeface="Segoe UI Semibold"/>
              </a:rP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468880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A6B4CC"/>
                </a:solidFill>
                <a:latin typeface="Segoe UI"/>
              </a:rPr>
              <a:t>Years of combined
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1472" y="1600200"/>
            <a:ext cx="2212848" cy="1572768"/>
          </a:xfrm>
          <a:prstGeom prst="roundRect">
            <a:avLst>
              <a:gd name="adj" fmla="val 11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1472" y="180136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1819656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36C2CF"/>
                </a:solidFill>
                <a:latin typeface="Segoe UI Semibold"/>
              </a:rPr>
              <a:t>1st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468880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A6B4CC"/>
                </a:solidFill>
                <a:latin typeface="Segoe UI"/>
              </a:rPr>
              <a:t>Licensed Saudi supplier
in its 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410712"/>
            <a:ext cx="2212848" cy="1572768"/>
          </a:xfrm>
          <a:prstGeom prst="roundRect">
            <a:avLst>
              <a:gd name="adj" fmla="val 11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61188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63016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7A7BFF"/>
                </a:solidFill>
                <a:latin typeface="Segoe UI Semibold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4279392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A6B4CC"/>
                </a:solidFill>
                <a:latin typeface="Segoe UI"/>
              </a:rPr>
              <a:t>Specialized service
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3410712"/>
            <a:ext cx="2212848" cy="1572768"/>
          </a:xfrm>
          <a:prstGeom prst="roundRect">
            <a:avLst>
              <a:gd name="adj" fmla="val 11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1472" y="361188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363016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4F8CFF"/>
                </a:solidFill>
                <a:latin typeface="Segoe UI Semibold"/>
              </a:rPr>
              <a:t>US+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279392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A6B4CC"/>
                </a:solidFill>
                <a:latin typeface="Segoe UI"/>
              </a:rPr>
              <a:t>Sourcing across the U.S.
&amp; worldwide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75320" y="-1783080"/>
            <a:ext cx="5029200" cy="5029200"/>
          </a:xfrm>
          <a:prstGeom prst="ellipse">
            <a:avLst/>
          </a:prstGeom>
          <a:solidFill>
            <a:srgbClr val="3AA0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Our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10512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0">
                <a:solidFill>
                  <a:srgbClr val="74829B"/>
                </a:solidFill>
                <a:latin typeface="Segoe UI"/>
              </a:rPr>
              <a:t>Aviation, MRO &amp; ground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537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569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AA0FF">
              <a:alpha val="22000"/>
            </a:srgbClr>
          </a:solidFill>
          <a:ln w="12700">
            <a:solidFill>
              <a:srgbClr val="3AA0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569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AA0FF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569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Provide Spare 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69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All original spare parts for civil and military aircraft and supporting equipment.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8484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74516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6C2CF">
              <a:alpha val="22000"/>
            </a:srgbClr>
          </a:solidFill>
          <a:ln w="12700">
            <a:solidFill>
              <a:srgbClr val="36C2C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16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6C2CF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516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Maintaining &amp; Repairing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4516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Experienced engineers and technicians delivering the best maintenance and repair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431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2463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F8CFF">
              <a:alpha val="22000"/>
            </a:srgbClr>
          </a:solidFill>
          <a:ln w="12700">
            <a:solidFill>
              <a:srgbClr val="4F8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2463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4F8CFF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Supporting Ground Equipment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Maintenance and support for aircraft auxiliary equipment to ensure operational readiness.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4378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0410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5CC0FF">
              <a:alpha val="22000"/>
            </a:srgbClr>
          </a:solidFill>
          <a:ln w="12700">
            <a:solidFill>
              <a:srgbClr val="5CC0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410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5CC0FF"/>
                </a:solidFill>
                <a:latin typeface="Segoe UI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410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Structure &amp;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410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Maintain and repair structures and tires for safety and optimal performance.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29510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85542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7A7BFF">
              <a:alpha val="22000"/>
            </a:srgbClr>
          </a:solidFill>
          <a:ln w="12700">
            <a:solidFill>
              <a:srgbClr val="7A7B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5542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7A7BFF"/>
                </a:solidFill>
                <a:latin typeface="Segoe UI Semibol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5542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Simulator System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5542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Specialized supporting services for flight and maintenance simulators.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7458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63490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8B6FF">
              <a:alpha val="22000"/>
            </a:srgbClr>
          </a:solidFill>
          <a:ln w="12700">
            <a:solidFill>
              <a:srgbClr val="38B6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3490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8B6FF"/>
                </a:solidFill>
                <a:latin typeface="Segoe UI Semibol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3490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Hydraulic &amp; Pneumatic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3490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Maintain and repair hydraulic and pneumatic systems efficiently and reliably.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5405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41437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6C2CF">
              <a:alpha val="22000"/>
            </a:srgbClr>
          </a:solidFill>
          <a:ln w="12700">
            <a:solidFill>
              <a:srgbClr val="36C2C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1437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6C2CF"/>
                </a:solidFill>
                <a:latin typeface="Segoe UI Semibold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1437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Generators &amp; 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1437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Maintain and repair generators and UPS systems to ensure power continuity.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75320" y="-1783080"/>
            <a:ext cx="5029200" cy="5029200"/>
          </a:xfrm>
          <a:prstGeom prst="ellipse">
            <a:avLst/>
          </a:prstGeom>
          <a:solidFill>
            <a:srgbClr val="3AA0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Our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10512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0">
                <a:solidFill>
                  <a:srgbClr val="74829B"/>
                </a:solidFill>
                <a:latin typeface="Segoe UI"/>
              </a:rPr>
              <a:t>Defense, engineering &amp;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537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569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5CC0FF">
              <a:alpha val="22000"/>
            </a:srgbClr>
          </a:solidFill>
          <a:ln w="12700">
            <a:solidFill>
              <a:srgbClr val="5CC0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569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5CC0FF"/>
                </a:solidFill>
                <a:latin typeface="Segoe UI Semibold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569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RADAR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69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Military and civilian RADAR project development and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8484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74516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F8CFF">
              <a:alpha val="22000"/>
            </a:srgbClr>
          </a:solidFill>
          <a:ln w="12700">
            <a:solidFill>
              <a:srgbClr val="4F8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516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4F8CFF"/>
                </a:solidFill>
                <a:latin typeface="Segoe UI Semibold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516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US Government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4516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World-class US Government support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431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2463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AA0FF">
              <a:alpha val="22000"/>
            </a:srgbClr>
          </a:solidFill>
          <a:ln w="12700">
            <a:solidFill>
              <a:srgbClr val="3AA0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2463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AA0FF"/>
                </a:solidFill>
                <a:latin typeface="Segoe UI Semibold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Procurement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A dedicated team sourcing genuine parts from the U.S. and worldwide.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4378" y="2450592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0410" y="26883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F8CFF">
              <a:alpha val="22000"/>
            </a:srgbClr>
          </a:solidFill>
          <a:ln w="12700">
            <a:solidFill>
              <a:srgbClr val="4F8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410" y="26791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4F8CFF"/>
                </a:solidFill>
                <a:latin typeface="Segoe UI Semibold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410" y="3163824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410" y="3621024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A dedicated engineering department delivering technical solutions and integration.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29510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85542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7A7BFF">
              <a:alpha val="22000"/>
            </a:srgbClr>
          </a:solidFill>
          <a:ln w="12700">
            <a:solidFill>
              <a:srgbClr val="7A7B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5542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7A7BFF"/>
                </a:solidFill>
                <a:latin typeface="Segoe UI Semibold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5542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AI Solutions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5542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Sovereign AI — command centers, document intelligence and operations agents.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7458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63490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8B6FF">
              <a:alpha val="22000"/>
            </a:srgbClr>
          </a:solidFill>
          <a:ln w="12700">
            <a:solidFill>
              <a:srgbClr val="38B6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3490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8B6FF"/>
                </a:solidFill>
                <a:latin typeface="Segoe UI Semibold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3490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Cybersecurity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3490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Protecting critical systems and data with a sovereign, in-Kingdom approach.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5405" y="4407408"/>
            <a:ext cx="2576779" cy="1737360"/>
          </a:xfrm>
          <a:prstGeom prst="roundRect">
            <a:avLst>
              <a:gd name="adj" fmla="val 10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41437" y="46451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6C2CF">
              <a:alpha val="22000"/>
            </a:srgbClr>
          </a:solidFill>
          <a:ln w="12700">
            <a:solidFill>
              <a:srgbClr val="36C2C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1437" y="46360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36C2CF"/>
                </a:solidFill>
                <a:latin typeface="Segoe UI Semibold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1437" y="5120640"/>
            <a:ext cx="21195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English Language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1437" y="5577840"/>
            <a:ext cx="21195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A6B4CC"/>
                </a:solidFill>
                <a:latin typeface="Segoe UI"/>
              </a:rPr>
              <a:t>Advanced English language training delivered by highly experienced trainers.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914400" y="-1645920"/>
            <a:ext cx="5486400" cy="5486400"/>
          </a:xfrm>
          <a:prstGeom prst="ellipse">
            <a:avLst/>
          </a:prstGeom>
          <a:solidFill>
            <a:srgbClr val="3AA0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SPOTLIGHT —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3F7FD"/>
                </a:solidFill>
                <a:latin typeface="Segoe UI Semibold"/>
              </a:rPr>
              <a:t>Global sourcing you can rely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6B4CC"/>
                </a:solidFill>
                <a:latin typeface="Segoe UI"/>
              </a:rPr>
              <a:t>Our procurement team sources genuine parts, equipment and components from trusted OEMs and authorised distributors across the United States and worldwide.</a:t>
            </a:r>
          </a:p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700" b="0">
                <a:solidFill>
                  <a:srgbClr val="A6B4CC"/>
                </a:solidFill>
                <a:latin typeface="Segoe U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6B4CC"/>
                </a:solidFill>
                <a:latin typeface="Segoe UI"/>
              </a:rPr>
              <a:t>We manage the full cycle — from RFQ to delivery — with transparent pricing, verified authenticity and dependable lead times, so your operations never wait on supply.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0799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spc="200">
                <a:solidFill>
                  <a:srgbClr val="3AA0FF"/>
                </a:solidFill>
                <a:latin typeface="Segoe UI Semibold"/>
              </a:rPr>
              <a:t>AT A GLANCE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937759"/>
            <a:ext cx="91440" cy="91440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8554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A6B4CC"/>
                </a:solidFill>
                <a:latin typeface="Segoe UI"/>
              </a:rPr>
              <a:t>OEM &amp; authorised distributors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394959"/>
            <a:ext cx="91440" cy="91440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312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A6B4CC"/>
                </a:solidFill>
                <a:latin typeface="Segoe UI"/>
              </a:rPr>
              <a:t>United States &amp; worldwide supply</a:t>
            </a:r>
          </a:p>
        </p:txBody>
      </p:sp>
      <p:sp>
        <p:nvSpPr>
          <p:cNvPr id="14" name="Oval 13"/>
          <p:cNvSpPr/>
          <p:nvPr/>
        </p:nvSpPr>
        <p:spPr>
          <a:xfrm>
            <a:off x="2990087" y="4937759"/>
            <a:ext cx="91440" cy="91440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48554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A6B4CC"/>
                </a:solidFill>
                <a:latin typeface="Segoe UI"/>
              </a:rPr>
              <a:t>Transparent pricing &amp; lead times</a:t>
            </a:r>
          </a:p>
        </p:txBody>
      </p:sp>
      <p:sp>
        <p:nvSpPr>
          <p:cNvPr id="16" name="Oval 15"/>
          <p:cNvSpPr/>
          <p:nvPr/>
        </p:nvSpPr>
        <p:spPr>
          <a:xfrm>
            <a:off x="2990087" y="5394959"/>
            <a:ext cx="91440" cy="91440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5312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A6B4CC"/>
                </a:solidFill>
                <a:latin typeface="Segoe UI"/>
              </a:rPr>
              <a:t>Certificates &amp; full traceability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22860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24323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245059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Strategic sourcing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28346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Qualifying the right suppliers for every part and program.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22860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97112" y="24323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245059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Vendor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8346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Long-term relationships with OEMs and authorised distributors.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36576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0" y="38039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1304" y="3822191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Quotations &amp; negotiation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1304" y="42062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Competitive RFQs with clear pricing and delivery terms.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7112" y="36576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97112" y="38039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3822191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Logistics &amp; expediting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2062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Export handling, shipping and priority AOG expediting.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0292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23560" y="51755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1304" y="519379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Quality &amp;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1304" y="55778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Authenticity checks, certificates of conformity, traceability.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97112" y="5029200"/>
            <a:ext cx="3035808" cy="1170432"/>
          </a:xfrm>
          <a:prstGeom prst="roundRect">
            <a:avLst>
              <a:gd name="adj" fmla="val 11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97112" y="5175504"/>
            <a:ext cx="73152" cy="38404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34856" y="519379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3F7FD"/>
                </a:solidFill>
                <a:latin typeface="Segoe UI Semibold"/>
              </a:rPr>
              <a:t>Inventory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6" y="5577840"/>
            <a:ext cx="26243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A6B4CC"/>
                </a:solidFill>
                <a:latin typeface="Segoe UI"/>
              </a:rPr>
              <a:t>Forecasting and stock planning so critical parts are on hand.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772400" y="3291839"/>
            <a:ext cx="5486400" cy="5486400"/>
          </a:xfrm>
          <a:prstGeom prst="ellipse">
            <a:avLst/>
          </a:prstGeom>
          <a:solidFill>
            <a:srgbClr val="7A7B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TRUSTED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Partners &amp;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74829B"/>
                </a:solidFill>
                <a:latin typeface="Segoe UI"/>
              </a:rPr>
              <a:t>Working alongside leading aerospace and defense organizations in the Kingdom and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465576" cy="3200400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191256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099815"/>
            <a:ext cx="2551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80">
                <a:solidFill>
                  <a:srgbClr val="3AA0FF"/>
                </a:solidFill>
                <a:latin typeface="Segoe UI Semibold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39"/>
            <a:ext cx="2962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8 organizations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995928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13632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AirBus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251960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69664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BAE Systems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507992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425696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Amentum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764024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681728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SAMI Aerospace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5020056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3776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NPCO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93792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Wallan Group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5532120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449824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Vinnell Arabia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5788152"/>
            <a:ext cx="82296" cy="82296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705856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AACC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1688" y="2880360"/>
            <a:ext cx="3465576" cy="3200400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36008" y="3191256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0056" y="3099815"/>
            <a:ext cx="2551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80">
                <a:solidFill>
                  <a:srgbClr val="36C2CF"/>
                </a:solidFill>
                <a:latin typeface="Segoe UI Semibold"/>
              </a:rPr>
              <a:t>AGREEMENTS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520439"/>
            <a:ext cx="2962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3 organizations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4654296" y="3995928"/>
            <a:ext cx="82296" cy="82296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8" y="3913632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SAMI — Saudi Arabian Military Industries</a:t>
            </a:r>
          </a:p>
        </p:txBody>
      </p:sp>
      <p:sp>
        <p:nvSpPr>
          <p:cNvPr id="35" name="Oval 34"/>
          <p:cNvSpPr/>
          <p:nvPr/>
        </p:nvSpPr>
        <p:spPr>
          <a:xfrm>
            <a:off x="4654296" y="4379976"/>
            <a:ext cx="82296" cy="82296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4608" y="429768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SAMI AEC — Advanced Electronics</a:t>
            </a:r>
          </a:p>
        </p:txBody>
      </p:sp>
      <p:sp>
        <p:nvSpPr>
          <p:cNvPr id="37" name="Oval 36"/>
          <p:cNvSpPr/>
          <p:nvPr/>
        </p:nvSpPr>
        <p:spPr>
          <a:xfrm>
            <a:off x="4654296" y="4764024"/>
            <a:ext cx="82296" cy="82296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4608" y="4681728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SMSCMC — Maintenance &amp; Supply Chain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83296" y="2880360"/>
            <a:ext cx="3465576" cy="3200400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57616" y="3191256"/>
            <a:ext cx="256032" cy="82296"/>
          </a:xfrm>
          <a:prstGeom prst="roundRect">
            <a:avLst>
              <a:gd name="adj" fmla="val 50000"/>
            </a:avLst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3099815"/>
            <a:ext cx="2551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80">
                <a:solidFill>
                  <a:srgbClr val="7A7BFF"/>
                </a:solidFill>
                <a:latin typeface="Segoe UI Semibold"/>
              </a:rPr>
              <a:t>PARTNERS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3520439"/>
            <a:ext cx="2962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5 organizations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8375904" y="3995928"/>
            <a:ext cx="82296" cy="82296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86216" y="3913632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ARMITE Lubricants</a:t>
            </a:r>
          </a:p>
        </p:txBody>
      </p:sp>
      <p:sp>
        <p:nvSpPr>
          <p:cNvPr id="45" name="Oval 44"/>
          <p:cNvSpPr/>
          <p:nvPr/>
        </p:nvSpPr>
        <p:spPr>
          <a:xfrm>
            <a:off x="8375904" y="4251960"/>
            <a:ext cx="82296" cy="82296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86216" y="4169664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MAC Aerospace Corp.</a:t>
            </a:r>
          </a:p>
        </p:txBody>
      </p:sp>
      <p:sp>
        <p:nvSpPr>
          <p:cNvPr id="47" name="Oval 46"/>
          <p:cNvSpPr/>
          <p:nvPr/>
        </p:nvSpPr>
        <p:spPr>
          <a:xfrm>
            <a:off x="8375904" y="4507992"/>
            <a:ext cx="82296" cy="82296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86216" y="4425696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ICS Arabia</a:t>
            </a:r>
          </a:p>
        </p:txBody>
      </p:sp>
      <p:sp>
        <p:nvSpPr>
          <p:cNvPr id="49" name="Oval 48"/>
          <p:cNvSpPr/>
          <p:nvPr/>
        </p:nvSpPr>
        <p:spPr>
          <a:xfrm>
            <a:off x="8375904" y="4764024"/>
            <a:ext cx="82296" cy="82296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6216" y="4681728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OPTOKON Middle East</a:t>
            </a:r>
          </a:p>
        </p:txBody>
      </p:sp>
      <p:sp>
        <p:nvSpPr>
          <p:cNvPr id="51" name="Oval 50"/>
          <p:cNvSpPr/>
          <p:nvPr/>
        </p:nvSpPr>
        <p:spPr>
          <a:xfrm>
            <a:off x="8375904" y="5020056"/>
            <a:ext cx="82296" cy="82296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86216" y="493776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3F7FD"/>
                </a:solidFill>
                <a:latin typeface="Segoe UI"/>
              </a:rPr>
              <a:t>TAM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NEWSROOM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Latest News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87168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anding-spare-parts-capabiliti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25603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40050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20">
                <a:solidFill>
                  <a:srgbClr val="3AA0FF"/>
                </a:solidFill>
                <a:latin typeface="Segoe UI Semibold"/>
              </a:rPr>
              <a:t>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79392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>
                <a:solidFill>
                  <a:srgbClr val="F3F7FD"/>
                </a:solidFill>
                <a:latin typeface="Segoe UI Semibold"/>
              </a:rPr>
              <a:t>Expanding Our Aircraft Spare Parts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157216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A6B4CC"/>
                </a:solidFill>
                <a:latin typeface="Segoe UI"/>
              </a:rPr>
              <a:t>Growing our inventory and global sourcing network for civil and military aircraft.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2487168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dvanced-simulator-sup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2487168"/>
            <a:ext cx="256032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9312" y="40050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20">
                <a:solidFill>
                  <a:srgbClr val="3AA0FF"/>
                </a:solidFill>
                <a:latin typeface="Segoe UI Semibold"/>
              </a:rPr>
              <a:t>APR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4279392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>
                <a:solidFill>
                  <a:srgbClr val="F3F7FD"/>
                </a:solidFill>
                <a:latin typeface="Segoe UI Semibold"/>
              </a:rPr>
              <a:t>Investing in Advanced Simulator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5157216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A6B4CC"/>
                </a:solidFill>
                <a:latin typeface="Segoe UI"/>
              </a:rPr>
              <a:t>Keeping flight and maintenance simulators operating at peak readiness.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487168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round-support-equipment-servic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487168"/>
            <a:ext cx="256032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9088" y="40050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20">
                <a:solidFill>
                  <a:srgbClr val="3AA0FF"/>
                </a:solidFill>
                <a:latin typeface="Segoe UI Semibold"/>
              </a:rPr>
              <a:t>MAR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79392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>
                <a:solidFill>
                  <a:srgbClr val="F3F7FD"/>
                </a:solidFill>
                <a:latin typeface="Segoe UI Semibold"/>
              </a:rPr>
              <a:t>Strengthening Ground Support Equipment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157216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A6B4CC"/>
                </a:solidFill>
                <a:latin typeface="Segoe UI"/>
              </a:rPr>
              <a:t>Comprehensive maintenance and spare parts for operational readiness on the ground.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408" y="2487168"/>
            <a:ext cx="2560320" cy="3657600"/>
          </a:xfrm>
          <a:prstGeom prst="roundRect">
            <a:avLst>
              <a:gd name="adj" fmla="val 5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dvancing-radar-sensor-suppo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2487168"/>
            <a:ext cx="2560320" cy="1371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98864" y="40050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20">
                <a:solidFill>
                  <a:srgbClr val="3AA0FF"/>
                </a:solidFill>
                <a:latin typeface="Segoe UI Semibold"/>
              </a:rPr>
              <a:t>FEB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4279392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>
                <a:solidFill>
                  <a:srgbClr val="F3F7FD"/>
                </a:solidFill>
                <a:latin typeface="Segoe UI Semibold"/>
              </a:rPr>
              <a:t>Advancing Radar &amp; Sensor System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5157216"/>
            <a:ext cx="2176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A6B4CC"/>
                </a:solidFill>
                <a:latin typeface="Segoe UI"/>
              </a:rPr>
              <a:t>Installing, calibrating and maintaining radar systems for surveillance and ATC.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963743" cy="3840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46720" y="3291839"/>
            <a:ext cx="5486400" cy="5486400"/>
          </a:xfrm>
          <a:prstGeom prst="ellipse">
            <a:avLst/>
          </a:prstGeom>
          <a:solidFill>
            <a:srgbClr val="3AA0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1612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SITE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3F7FD"/>
                </a:solidFill>
                <a:latin typeface="Segoe UI Semibold"/>
              </a:rPr>
              <a:t>Explore the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74829B"/>
                </a:solidFill>
                <a:latin typeface="Segoe UI"/>
              </a:rPr>
              <a:t>Every page on </a:t>
            </a:r>
            <a:r>
              <a:rPr sz="1250" b="1">
                <a:solidFill>
                  <a:srgbClr val="3AA0FF"/>
                </a:solidFill>
                <a:latin typeface="Segoe UI Semibold"/>
              </a:rPr>
              <a:t>3lines.com.sa/en</a:t>
            </a:r>
            <a:r>
              <a:rPr sz="1250" b="0">
                <a:solidFill>
                  <a:srgbClr val="74829B"/>
                </a:solidFill>
                <a:latin typeface="Segoe UI"/>
              </a:rPr>
              <a:t>  ·  also available in العربية · 日本語 · 한국어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623560" cy="3429000"/>
          </a:xfrm>
          <a:prstGeom prst="roundRect">
            <a:avLst>
              <a:gd name="adj" fmla="val 5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127248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0358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80">
                <a:solidFill>
                  <a:srgbClr val="3AA0FF"/>
                </a:solidFill>
                <a:latin typeface="Segoe UI Semibold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54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14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/en/services/…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49624"/>
            <a:ext cx="73152" cy="73152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76472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Provide Spare Parts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3152" cy="73152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02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Maintaining &amp; Repairing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517136"/>
            <a:ext cx="73152" cy="731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Supporting Ground Equipment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50892"/>
            <a:ext cx="73152" cy="73152"/>
          </a:xfrm>
          <a:prstGeom prst="ellipse">
            <a:avLst/>
          </a:prstGeom>
          <a:solidFill>
            <a:srgbClr val="5C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77740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Structure &amp; Frame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184648"/>
            <a:ext cx="73152" cy="73152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11496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Simulator System Support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518404"/>
            <a:ext cx="73152" cy="73152"/>
          </a:xfrm>
          <a:prstGeom prst="ellipse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445252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Hydraulic &amp; Pneumatic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852159"/>
            <a:ext cx="73152" cy="73152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77900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Generators &amp; UPS</a:t>
            </a:r>
          </a:p>
        </p:txBody>
      </p:sp>
      <p:sp>
        <p:nvSpPr>
          <p:cNvPr id="28" name="Oval 27"/>
          <p:cNvSpPr/>
          <p:nvPr/>
        </p:nvSpPr>
        <p:spPr>
          <a:xfrm>
            <a:off x="3520440" y="3849624"/>
            <a:ext cx="73152" cy="73152"/>
          </a:xfrm>
          <a:prstGeom prst="ellipse">
            <a:avLst/>
          </a:prstGeom>
          <a:solidFill>
            <a:srgbClr val="5C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776472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RADAR System</a:t>
            </a:r>
          </a:p>
        </p:txBody>
      </p:sp>
      <p:sp>
        <p:nvSpPr>
          <p:cNvPr id="30" name="Oval 29"/>
          <p:cNvSpPr/>
          <p:nvPr/>
        </p:nvSpPr>
        <p:spPr>
          <a:xfrm>
            <a:off x="3520440" y="4183380"/>
            <a:ext cx="73152" cy="731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1102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US Government Support</a:t>
            </a:r>
          </a:p>
        </p:txBody>
      </p:sp>
      <p:sp>
        <p:nvSpPr>
          <p:cNvPr id="32" name="Oval 31"/>
          <p:cNvSpPr/>
          <p:nvPr/>
        </p:nvSpPr>
        <p:spPr>
          <a:xfrm>
            <a:off x="3520440" y="4517136"/>
            <a:ext cx="73152" cy="73152"/>
          </a:xfrm>
          <a:prstGeom prst="ellipse">
            <a:avLst/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444398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Procurement</a:t>
            </a:r>
          </a:p>
        </p:txBody>
      </p:sp>
      <p:sp>
        <p:nvSpPr>
          <p:cNvPr id="34" name="Oval 33"/>
          <p:cNvSpPr/>
          <p:nvPr/>
        </p:nvSpPr>
        <p:spPr>
          <a:xfrm>
            <a:off x="3520440" y="4850892"/>
            <a:ext cx="73152" cy="731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777740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Engineering</a:t>
            </a:r>
          </a:p>
        </p:txBody>
      </p:sp>
      <p:sp>
        <p:nvSpPr>
          <p:cNvPr id="36" name="Oval 35"/>
          <p:cNvSpPr/>
          <p:nvPr/>
        </p:nvSpPr>
        <p:spPr>
          <a:xfrm>
            <a:off x="3520440" y="5184648"/>
            <a:ext cx="73152" cy="73152"/>
          </a:xfrm>
          <a:prstGeom prst="ellipse">
            <a:avLst/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5111496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AI Solutions</a:t>
            </a:r>
          </a:p>
        </p:txBody>
      </p:sp>
      <p:sp>
        <p:nvSpPr>
          <p:cNvPr id="38" name="Oval 37"/>
          <p:cNvSpPr/>
          <p:nvPr/>
        </p:nvSpPr>
        <p:spPr>
          <a:xfrm>
            <a:off x="3520440" y="5518404"/>
            <a:ext cx="73152" cy="73152"/>
          </a:xfrm>
          <a:prstGeom prst="ellipse">
            <a:avLst/>
          </a:prstGeom>
          <a:solidFill>
            <a:srgbClr val="38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5445252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Cybersecurity</a:t>
            </a:r>
          </a:p>
        </p:txBody>
      </p:sp>
      <p:sp>
        <p:nvSpPr>
          <p:cNvPr id="40" name="Oval 39"/>
          <p:cNvSpPr/>
          <p:nvPr/>
        </p:nvSpPr>
        <p:spPr>
          <a:xfrm>
            <a:off x="3520440" y="5852159"/>
            <a:ext cx="73152" cy="73152"/>
          </a:xfrm>
          <a:prstGeom prst="ellipse">
            <a:avLst/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577900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>
                <a:solidFill>
                  <a:srgbClr val="F3F7FD"/>
                </a:solidFill>
                <a:latin typeface="Segoe UI"/>
              </a:rPr>
              <a:t>English Language Training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2834640"/>
            <a:ext cx="4983480" cy="1965960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12280" y="3127248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6328" y="30358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60">
                <a:solidFill>
                  <a:srgbClr val="36C2CF"/>
                </a:solidFill>
                <a:latin typeface="Segoe UI Semibold"/>
              </a:rPr>
              <a:t>COMPANY &amp; PAGES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5204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Home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694176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9044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About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07822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/en/about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288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Partners &amp; Clients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46227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/en/partners-and-clients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35204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News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3694176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/en/news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9044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Contact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407822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/en/contact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288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3F7FD"/>
                </a:solidFill>
                <a:latin typeface="Segoe UI Semibold"/>
              </a:rPr>
              <a:t>Pages Index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446227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/en/pages-index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37960" y="4983480"/>
            <a:ext cx="4983480" cy="1280160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812280" y="5257800"/>
            <a:ext cx="256032" cy="82296"/>
          </a:xfrm>
          <a:prstGeom prst="roundRect">
            <a:avLst>
              <a:gd name="adj" fmla="val 50000"/>
            </a:avLst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96328" y="5166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spc="160">
                <a:solidFill>
                  <a:srgbClr val="7A7BFF"/>
                </a:solidFill>
                <a:latin typeface="Segoe UI Semibold"/>
              </a:rPr>
              <a:t>LEGAL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5532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3F7FD"/>
                </a:solidFill>
                <a:latin typeface="Segoe UI Semibold"/>
              </a:rPr>
              <a:t>Privacy Policy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82472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4829B"/>
                </a:solidFill>
                <a:latin typeface="Segoe UI"/>
              </a:rPr>
              <a:t>/privacy-policy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5048" y="5532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3F7FD"/>
                </a:solidFill>
                <a:latin typeface="Segoe UI Semibold"/>
              </a:rPr>
              <a:t>Terms &amp; Conditions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5048" y="582472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4829B"/>
                </a:solidFill>
                <a:latin typeface="Segoe UI"/>
              </a:rPr>
              <a:t>/terms-and-conditions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57816" y="5532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3F7FD"/>
                </a:solidFill>
                <a:latin typeface="Segoe UI Semibold"/>
              </a:rPr>
              <a:t>Cookie Policy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57816" y="582472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4829B"/>
                </a:solidFill>
                <a:latin typeface="Segoe UI"/>
              </a:rPr>
              <a:t>/cookie-policy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3lines.com.sa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74829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424"/>
              </a:gs>
              <a:gs pos="100000">
                <a:srgbClr val="05070E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1645919"/>
            <a:ext cx="7315200" cy="7315200"/>
          </a:xfrm>
          <a:prstGeom prst="ellipse">
            <a:avLst/>
          </a:prstGeom>
          <a:solidFill>
            <a:srgbClr val="3AA0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1188720"/>
            <a:ext cx="4572000" cy="4572000"/>
          </a:xfrm>
          <a:prstGeom prst="ellipse">
            <a:avLst/>
          </a:prstGeom>
          <a:solidFill>
            <a:srgbClr val="7A7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lines-logo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0080"/>
            <a:ext cx="1376776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" y="1901951"/>
            <a:ext cx="256032" cy="82296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01367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20">
                <a:solidFill>
                  <a:srgbClr val="3AA0FF"/>
                </a:solidFill>
                <a:latin typeface="Segoe UI Semibold"/>
              </a:rPr>
              <a:t>GET IN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860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</a:pPr>
            <a:r>
              <a:rPr sz="4000" b="1">
                <a:solidFill>
                  <a:srgbClr val="F3F7FD"/>
                </a:solidFill>
                <a:latin typeface="Segoe UI Semibold"/>
              </a:rPr>
              <a:t>Let's keep your fleet
ready for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>
                <a:solidFill>
                  <a:srgbClr val="A6B4CC"/>
                </a:solidFill>
                <a:latin typeface="Segoe UI"/>
              </a:rPr>
              <a:t>Talk to our team about spare parts, MRO, ground support, simulators and more.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92040"/>
            <a:ext cx="3429000" cy="932688"/>
          </a:xfrm>
          <a:prstGeom prst="roundRect">
            <a:avLst>
              <a:gd name="adj" fmla="val 14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73152" cy="566928"/>
          </a:xfrm>
          <a:prstGeom prst="roundRect">
            <a:avLst>
              <a:gd name="adj" fmla="val 50000"/>
            </a:avLst>
          </a:prstGeom>
          <a:solidFill>
            <a:srgbClr val="3A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50">
                <a:solidFill>
                  <a:srgbClr val="3AA0FF"/>
                </a:solidFill>
                <a:latin typeface="Segoe UI Semibold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3F7FD"/>
                </a:solidFill>
                <a:latin typeface="Segoe UI Semibold"/>
              </a:rPr>
              <a:t>+966 11 225 2433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4892040"/>
            <a:ext cx="3429000" cy="932688"/>
          </a:xfrm>
          <a:prstGeom prst="roundRect">
            <a:avLst>
              <a:gd name="adj" fmla="val 14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5074920"/>
            <a:ext cx="73152" cy="566928"/>
          </a:xfrm>
          <a:prstGeom prst="roundRect">
            <a:avLst>
              <a:gd name="adj" fmla="val 50000"/>
            </a:avLst>
          </a:prstGeom>
          <a:solidFill>
            <a:srgbClr val="3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5074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50">
                <a:solidFill>
                  <a:srgbClr val="36C2CF"/>
                </a:solidFill>
                <a:latin typeface="Segoe UI Semibold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53492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3F7FD"/>
                </a:solidFill>
                <a:latin typeface="Segoe UI Semibold"/>
              </a:rPr>
              <a:t>info@3lines.com.sa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892040"/>
            <a:ext cx="3429000" cy="932688"/>
          </a:xfrm>
          <a:prstGeom prst="roundRect">
            <a:avLst>
              <a:gd name="adj" fmla="val 14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80" y="5074920"/>
            <a:ext cx="73152" cy="566928"/>
          </a:xfrm>
          <a:prstGeom prst="roundRect">
            <a:avLst>
              <a:gd name="adj" fmla="val 50000"/>
            </a:avLst>
          </a:prstGeom>
          <a:solidFill>
            <a:srgbClr val="7A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507492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spc="150">
                <a:solidFill>
                  <a:srgbClr val="7A7BFF"/>
                </a:solidFill>
                <a:latin typeface="Segoe UI Semibold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53492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3F7FD"/>
                </a:solidFill>
                <a:latin typeface="Segoe UI Semibold"/>
              </a:rPr>
              <a:t>linkedin.com/company/3lines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286000"/>
            <a:ext cx="4069080" cy="2331720"/>
          </a:xfrm>
          <a:prstGeom prst="roundRect">
            <a:avLst>
              <a:gd name="adj" fmla="val 6000"/>
            </a:avLst>
          </a:prstGeom>
          <a:solidFill>
            <a:srgbClr val="101727"/>
          </a:solidFill>
          <a:ln w="12700">
            <a:solidFill>
              <a:srgbClr val="2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spc="180">
                <a:solidFill>
                  <a:srgbClr val="3AA0FF"/>
                </a:solidFill>
                <a:latin typeface="Segoe UI Semibold"/>
              </a:rPr>
              <a:t>HEADQUARTERS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88036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F3F7FD"/>
                </a:solidFill>
                <a:latin typeface="Segoe UI"/>
              </a:rPr>
              <a:t>Office 203, 2nd floor, Building #2148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A6B4CC"/>
                </a:solidFill>
                <a:latin typeface="Segoe UI"/>
              </a:rPr>
              <a:t>King Abdullah Branch Road, King Faisal Dist.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A6B4CC"/>
                </a:solidFill>
                <a:latin typeface="Segoe UI"/>
              </a:rPr>
              <a:t>Riyadh 13215, Saudi Arabia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977639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74829B"/>
                </a:solidFill>
                <a:latin typeface="Segoe UI"/>
              </a:rPr>
              <a:t>CR 1010589885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74829B"/>
                </a:solidFill>
                <a:latin typeface="Segoe UI"/>
              </a:rPr>
              <a:t>VAT 310407303200003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74829B"/>
                </a:solidFill>
                <a:latin typeface="Segoe UI"/>
              </a:rPr>
              <a:t>© 2026 3Lines Advanced Technologies Company · 3lines.com.sa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